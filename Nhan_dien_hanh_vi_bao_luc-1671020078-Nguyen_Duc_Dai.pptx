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57" autoAdjust="0"/>
    <p:restoredTop sz="94660"/>
  </p:normalViewPr>
  <p:slideViewPr>
    <p:cSldViewPr snapToGrid="0" showGuides="1">
      <p:cViewPr varScale="1">
        <p:scale>
          <a:sx n="112" d="100"/>
          <a:sy n="112" d="100"/>
        </p:scale>
        <p:origin x="4352" y="80"/>
      </p:cViewPr>
      <p:guideLst>
        <p:guide orient="horz" pos="31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880132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534250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dirty="0"/>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958024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831506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dirty="0"/>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95511AC-980B-485A-851E-DBD0B8F4CBAD}"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442525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E95511AC-980B-485A-851E-DBD0B8F4CBAD}"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755432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511AC-980B-485A-851E-DBD0B8F4CBAD}"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943794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764958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4036842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3612430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3302977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95511AC-980B-485A-851E-DBD0B8F4CBAD}" type="datetimeFigureOut">
              <a:rPr lang="en-US" smtClean="0"/>
              <a:t>6/4/2026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6A2BFA2-7CEB-4D76-9663-917F13DE4B1E}" type="slidenum">
              <a:rPr lang="en-US" smtClean="0"/>
              <a:t>‹#›</a:t>
            </a:fld>
            <a:endParaRPr lang="en-US"/>
          </a:p>
        </p:txBody>
      </p:sp>
    </p:spTree>
    <p:extLst>
      <p:ext uri="{BB962C8B-B14F-4D97-AF65-F5344CB8AC3E}">
        <p14:creationId xmlns:p14="http://schemas.microsoft.com/office/powerpoint/2010/main" val="208273829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45">
            <a:extLst>
              <a:ext uri="{FF2B5EF4-FFF2-40B4-BE49-F238E27FC236}">
                <a16:creationId xmlns:a16="http://schemas.microsoft.com/office/drawing/2014/main" id="{34C510F2-7255-D7C3-9DCD-43BEBE1666BB}"/>
              </a:ext>
            </a:extLst>
          </p:cNvPr>
          <p:cNvGrpSpPr/>
          <p:nvPr/>
        </p:nvGrpSpPr>
        <p:grpSpPr>
          <a:xfrm>
            <a:off x="6009740" y="1966271"/>
            <a:ext cx="683266" cy="212921"/>
            <a:chOff x="6071533" y="2181217"/>
            <a:chExt cx="683266" cy="215444"/>
          </a:xfrm>
        </p:grpSpPr>
        <p:sp>
          <p:nvSpPr>
            <p:cNvPr id="43" name="TextBox 42">
              <a:extLst>
                <a:ext uri="{FF2B5EF4-FFF2-40B4-BE49-F238E27FC236}">
                  <a16:creationId xmlns:a16="http://schemas.microsoft.com/office/drawing/2014/main" id="{4A57E6C6-5BC4-200A-55C5-E63038F9478E}"/>
                </a:ext>
              </a:extLst>
            </p:cNvPr>
            <p:cNvSpPr txBox="1"/>
            <p:nvPr/>
          </p:nvSpPr>
          <p:spPr>
            <a:xfrm>
              <a:off x="6105590" y="2181217"/>
              <a:ext cx="649209" cy="215444"/>
            </a:xfrm>
            <a:prstGeom prst="rect">
              <a:avLst/>
            </a:prstGeom>
            <a:noFill/>
          </p:spPr>
          <p:txBody>
            <a:bodyPr wrap="square">
              <a:spAutoFit/>
            </a:bodyPr>
            <a:lstStyle/>
            <a:p>
              <a:pPr algn="ctr"/>
              <a:r>
                <a:rPr lang="en-US" sz="800" b="1" dirty="0" err="1">
                  <a:latin typeface="Arial Hebrew Scholar" pitchFamily="2" charset="-79"/>
                  <a:cs typeface="Arial Hebrew Scholar" pitchFamily="2" charset="-79"/>
                </a:rPr>
                <a:t>Github</a:t>
              </a:r>
              <a:endParaRPr lang="en-US" sz="800" b="1" dirty="0">
                <a:latin typeface="Arial Hebrew Scholar" pitchFamily="2" charset="-79"/>
                <a:cs typeface="Arial Hebrew Scholar" pitchFamily="2" charset="-79"/>
              </a:endParaRPr>
            </a:p>
          </p:txBody>
        </p:sp>
        <p:pic>
          <p:nvPicPr>
            <p:cNvPr id="1028" name="Picture 4" descr="Github Logo - Free social media icons">
              <a:extLst>
                <a:ext uri="{FF2B5EF4-FFF2-40B4-BE49-F238E27FC236}">
                  <a16:creationId xmlns:a16="http://schemas.microsoft.com/office/drawing/2014/main" id="{4C95027D-6E4F-D713-8DAE-329A92FB3C74}"/>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36" name="Table 35">
            <a:extLst>
              <a:ext uri="{FF2B5EF4-FFF2-40B4-BE49-F238E27FC236}">
                <a16:creationId xmlns:a16="http://schemas.microsoft.com/office/drawing/2014/main" id="{DEBFABA5-206B-548E-3C0E-CC2EE202AB31}"/>
              </a:ext>
            </a:extLst>
          </p:cNvPr>
          <p:cNvGraphicFramePr>
            <a:graphicFrameLocks noGrp="1"/>
          </p:cNvGraphicFramePr>
          <p:nvPr>
            <p:extLst>
              <p:ext uri="{D42A27DB-BD31-4B8C-83A1-F6EECF244321}">
                <p14:modId xmlns:p14="http://schemas.microsoft.com/office/powerpoint/2010/main" val="3345894707"/>
              </p:ext>
            </p:extLst>
          </p:nvPr>
        </p:nvGraphicFramePr>
        <p:xfrm>
          <a:off x="71979" y="2356347"/>
          <a:ext cx="3890421" cy="1433189"/>
        </p:xfrm>
        <a:graphic>
          <a:graphicData uri="http://schemas.openxmlformats.org/drawingml/2006/table">
            <a:tbl>
              <a:tblPr firstRow="1" bandRow="1">
                <a:tableStyleId>{5C22544A-7EE6-4342-B048-85BDC9FD1C3A}</a:tableStyleId>
              </a:tblPr>
              <a:tblGrid>
                <a:gridCol w="3890421">
                  <a:extLst>
                    <a:ext uri="{9D8B030D-6E8A-4147-A177-3AD203B41FA5}">
                      <a16:colId xmlns:a16="http://schemas.microsoft.com/office/drawing/2014/main" val="1520847292"/>
                    </a:ext>
                  </a:extLst>
                </a:gridCol>
              </a:tblGrid>
              <a:tr h="2438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err="1">
                          <a:solidFill>
                            <a:schemeClr val="bg1"/>
                          </a:solidFill>
                          <a:latin typeface="Arial" panose="020B0604020202020204" pitchFamily="34" charset="0"/>
                          <a:cs typeface="Arial" panose="020B0604020202020204" pitchFamily="34" charset="0"/>
                        </a:rPr>
                        <a:t>Giới</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thiệu</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1189349">
                <a:tc>
                  <a:txBody>
                    <a:bodyPr/>
                    <a:lstStyle/>
                    <a:p>
                      <a:pPr algn="just"/>
                      <a:r>
                        <a:rPr lang="vi-VN" sz="750" dirty="0">
                          <a:latin typeface="+mj-lt"/>
                          <a:cs typeface="Arial" panose="020B0604020202020204" pitchFamily="34" charset="0"/>
                        </a:rPr>
                        <a:t>Đề tài xây dựng một hệ thống phát hiện hành vi bạo lực học đường từ camera, webcam, RTSP hoặc video tải lên, sau đó tự động tạo gói bằng chứng số để phục vụ truy vết và xác minh sau sự kiện.</a:t>
                      </a:r>
                    </a:p>
                    <a:p>
                      <a:pPr algn="just"/>
                      <a:endParaRPr lang="vi-VN" sz="750" dirty="0">
                        <a:latin typeface="+mj-lt"/>
                        <a:cs typeface="Arial" panose="020B0604020202020204" pitchFamily="34" charset="0"/>
                      </a:endParaRPr>
                    </a:p>
                    <a:p>
                      <a:pPr algn="just"/>
                      <a:r>
                        <a:rPr lang="vi-VN" sz="750" dirty="0">
                          <a:latin typeface="+mj-lt"/>
                          <a:cs typeface="Arial" panose="020B0604020202020204" pitchFamily="34" charset="0"/>
                        </a:rPr>
                        <a:t>Hệ thống không chỉ dừng ở việc cảnh báo khi phát hiện đánh nhau, mà còn lưu lại snapshot, metadata, mã băm SHA-256 và thông tin anchoring lên blockchain hoặc sổ cái cục bộ. </a:t>
                      </a:r>
                      <a:r>
                        <a:rPr lang="vi-VN" sz="750">
                          <a:latin typeface="+mj-lt"/>
                          <a:cs typeface="Arial" panose="020B0604020202020204" pitchFamily="34" charset="0"/>
                        </a:rPr>
                        <a:t>Nhờ đó, bằng chứng có thể được kiểm tra lại để phát hiện việc bị chỉnh sửa, thất lạc hoặc không khớp với dấu vết đã ghi nhận.</a:t>
                      </a:r>
                    </a:p>
                    <a:p>
                      <a:pPr algn="just"/>
                      <a:r>
                        <a:rPr lang="vi-VN" sz="750" dirty="0">
                          <a:latin typeface="+mj-lt"/>
                          <a:cs typeface="Arial" panose="020B0604020202020204" pitchFamily="34" charset="0"/>
                        </a:rPr>
                        <a:t>sự kiện.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aphicFrame>
        <p:nvGraphicFramePr>
          <p:cNvPr id="7" name="Table 6">
            <a:extLst>
              <a:ext uri="{FF2B5EF4-FFF2-40B4-BE49-F238E27FC236}">
                <a16:creationId xmlns:a16="http://schemas.microsoft.com/office/drawing/2014/main" id="{56751592-98ED-BE76-ED93-630A31DCD2F6}"/>
              </a:ext>
            </a:extLst>
          </p:cNvPr>
          <p:cNvGraphicFramePr>
            <a:graphicFrameLocks noGrp="1"/>
          </p:cNvGraphicFramePr>
          <p:nvPr>
            <p:extLst>
              <p:ext uri="{D42A27DB-BD31-4B8C-83A1-F6EECF244321}">
                <p14:modId xmlns:p14="http://schemas.microsoft.com/office/powerpoint/2010/main" val="2116932908"/>
              </p:ext>
            </p:extLst>
          </p:nvPr>
        </p:nvGraphicFramePr>
        <p:xfrm>
          <a:off x="4027952" y="2360409"/>
          <a:ext cx="2789416" cy="2289637"/>
        </p:xfrm>
        <a:graphic>
          <a:graphicData uri="http://schemas.openxmlformats.org/drawingml/2006/table">
            <a:tbl>
              <a:tblPr firstRow="1" bandRow="1">
                <a:tableStyleId>{5C22544A-7EE6-4342-B048-85BDC9FD1C3A}</a:tableStyleId>
              </a:tblPr>
              <a:tblGrid>
                <a:gridCol w="2789416">
                  <a:extLst>
                    <a:ext uri="{9D8B030D-6E8A-4147-A177-3AD203B41FA5}">
                      <a16:colId xmlns:a16="http://schemas.microsoft.com/office/drawing/2014/main" val="1520847292"/>
                    </a:ext>
                  </a:extLst>
                </a:gridCol>
              </a:tblGrid>
              <a:tr h="25244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err="1">
                          <a:solidFill>
                            <a:schemeClr val="bg1"/>
                          </a:solidFill>
                          <a:latin typeface="Arial" panose="020B0604020202020204" pitchFamily="34" charset="0"/>
                          <a:cs typeface="Arial" panose="020B0604020202020204" pitchFamily="34" charset="0"/>
                        </a:rPr>
                        <a:t>Kiến</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trúc</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hệ</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thống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2535013272"/>
                  </a:ext>
                </a:extLst>
              </a:tr>
              <a:tr h="203719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pSp>
        <p:nvGrpSpPr>
          <p:cNvPr id="70" name="Group 69">
            <a:extLst>
              <a:ext uri="{FF2B5EF4-FFF2-40B4-BE49-F238E27FC236}">
                <a16:creationId xmlns:a16="http://schemas.microsoft.com/office/drawing/2014/main" id="{518BA7C7-D5B3-521F-4863-EB6372F08A16}"/>
              </a:ext>
            </a:extLst>
          </p:cNvPr>
          <p:cNvGrpSpPr/>
          <p:nvPr/>
        </p:nvGrpSpPr>
        <p:grpSpPr>
          <a:xfrm>
            <a:off x="0" y="-39866"/>
            <a:ext cx="6858000" cy="2289646"/>
            <a:chOff x="0" y="-40063"/>
            <a:chExt cx="6858000" cy="2289646"/>
          </a:xfrm>
        </p:grpSpPr>
        <p:grpSp>
          <p:nvGrpSpPr>
            <p:cNvPr id="27" name="Group 26">
              <a:extLst>
                <a:ext uri="{FF2B5EF4-FFF2-40B4-BE49-F238E27FC236}">
                  <a16:creationId xmlns:a16="http://schemas.microsoft.com/office/drawing/2014/main" id="{076F30E7-DE29-4869-A261-9356210766F3}"/>
                </a:ext>
              </a:extLst>
            </p:cNvPr>
            <p:cNvGrpSpPr/>
            <p:nvPr/>
          </p:nvGrpSpPr>
          <p:grpSpPr>
            <a:xfrm>
              <a:off x="0" y="-40063"/>
              <a:ext cx="6858000" cy="1149907"/>
              <a:chOff x="0" y="-40063"/>
              <a:chExt cx="6858000" cy="1149907"/>
            </a:xfrm>
          </p:grpSpPr>
          <p:pic>
            <p:nvPicPr>
              <p:cNvPr id="39" name="Picture 38">
                <a:extLst>
                  <a:ext uri="{FF2B5EF4-FFF2-40B4-BE49-F238E27FC236}">
                    <a16:creationId xmlns:a16="http://schemas.microsoft.com/office/drawing/2014/main" id="{7ABF4E65-9336-CED4-40B5-828F0E50C5E5}"/>
                  </a:ext>
                </a:extLst>
              </p:cNvPr>
              <p:cNvPicPr>
                <a:picLocks noChangeAspect="1"/>
              </p:cNvPicPr>
              <p:nvPr/>
            </p:nvPicPr>
            <p:blipFill>
              <a:blip r:embed="rId3"/>
              <a:stretch>
                <a:fillRect/>
              </a:stretch>
            </p:blipFill>
            <p:spPr>
              <a:xfrm>
                <a:off x="0" y="-1275"/>
                <a:ext cx="6858000" cy="1111119"/>
              </a:xfrm>
              <a:prstGeom prst="rect">
                <a:avLst/>
              </a:prstGeom>
            </p:spPr>
          </p:pic>
          <p:sp>
            <p:nvSpPr>
              <p:cNvPr id="40" name="TextBox 39">
                <a:extLst>
                  <a:ext uri="{FF2B5EF4-FFF2-40B4-BE49-F238E27FC236}">
                    <a16:creationId xmlns:a16="http://schemas.microsoft.com/office/drawing/2014/main" id="{E6C724AE-79C3-CBF7-13D9-AFB8C50186BA}"/>
                  </a:ext>
                </a:extLst>
              </p:cNvPr>
              <p:cNvSpPr txBox="1"/>
              <p:nvPr/>
            </p:nvSpPr>
            <p:spPr>
              <a:xfrm>
                <a:off x="2439016" y="-40063"/>
                <a:ext cx="1991250" cy="400110"/>
              </a:xfrm>
              <a:prstGeom prst="rect">
                <a:avLst/>
              </a:prstGeom>
              <a:noFill/>
            </p:spPr>
            <p:txBody>
              <a:bodyPr wrap="none" rtlCol="0">
                <a:spAutoFit/>
              </a:bodyPr>
              <a:lstStyle/>
              <a:p>
                <a:pPr algn="ctr"/>
                <a:r>
                  <a:rPr lang="en-US" sz="1000" dirty="0">
                    <a:solidFill>
                      <a:schemeClr val="bg1"/>
                    </a:solidFill>
                    <a:latin typeface="Arial Hebrew Scholar" pitchFamily="2" charset="-79"/>
                    <a:cs typeface="Arial Hebrew Scholar" pitchFamily="2" charset="-79"/>
                  </a:rPr>
                  <a:t>T</a:t>
                </a:r>
                <a:r>
                  <a:rPr lang="en-US" sz="1000" b="1" dirty="0">
                    <a:solidFill>
                      <a:schemeClr val="bg1"/>
                    </a:solidFill>
                    <a:latin typeface="Arial Hebrew Scholar" pitchFamily="2" charset="-79"/>
                    <a:cs typeface="Arial Hebrew Scholar" pitchFamily="2" charset="-79"/>
                  </a:rPr>
                  <a:t>RƯỜNG ĐẠI HỌC ĐẠI NAM</a:t>
                </a:r>
              </a:p>
              <a:p>
                <a:pPr algn="ctr"/>
                <a:r>
                  <a:rPr lang="en-US" sz="1000" b="1" dirty="0">
                    <a:solidFill>
                      <a:schemeClr val="bg1"/>
                    </a:solidFill>
                    <a:latin typeface="Arial Hebrew Scholar" pitchFamily="2" charset="-79"/>
                    <a:cs typeface="Arial Hebrew Scholar" pitchFamily="2" charset="-79"/>
                  </a:rPr>
                  <a:t>KHOA CÔNG NGHỆ </a:t>
                </a:r>
                <a:r>
                  <a:rPr lang="en-US" sz="1000" dirty="0">
                    <a:solidFill>
                      <a:schemeClr val="bg1"/>
                    </a:solidFill>
                    <a:latin typeface="Arial Hebrew Scholar" pitchFamily="2" charset="-79"/>
                    <a:cs typeface="Arial Hebrew Scholar" pitchFamily="2" charset="-79"/>
                  </a:rPr>
                  <a:t>T</a:t>
                </a:r>
                <a:r>
                  <a:rPr lang="en-US" sz="1000" b="1" dirty="0">
                    <a:solidFill>
                      <a:schemeClr val="bg1"/>
                    </a:solidFill>
                    <a:latin typeface="Arial Hebrew Scholar" pitchFamily="2" charset="-79"/>
                    <a:cs typeface="Arial Hebrew Scholar" pitchFamily="2" charset="-79"/>
                  </a:rPr>
                  <a:t>HÔNG </a:t>
                </a:r>
                <a:r>
                  <a:rPr lang="en-US" sz="1000" dirty="0">
                    <a:solidFill>
                      <a:schemeClr val="bg1"/>
                    </a:solidFill>
                    <a:latin typeface="Arial Hebrew Scholar" pitchFamily="2" charset="-79"/>
                    <a:cs typeface="Arial Hebrew Scholar" pitchFamily="2" charset="-79"/>
                  </a:rPr>
                  <a:t>T</a:t>
                </a:r>
                <a:r>
                  <a:rPr lang="en-US" sz="1000" b="1" dirty="0">
                    <a:solidFill>
                      <a:schemeClr val="bg1"/>
                    </a:solidFill>
                    <a:latin typeface="Arial Hebrew Scholar" pitchFamily="2" charset="-79"/>
                    <a:cs typeface="Arial Hebrew Scholar" pitchFamily="2" charset="-79"/>
                  </a:rPr>
                  <a:t>IN</a:t>
                </a:r>
              </a:p>
            </p:txBody>
          </p:sp>
        </p:grpSp>
        <p:grpSp>
          <p:nvGrpSpPr>
            <p:cNvPr id="65" name="Group 64">
              <a:extLst>
                <a:ext uri="{FF2B5EF4-FFF2-40B4-BE49-F238E27FC236}">
                  <a16:creationId xmlns:a16="http://schemas.microsoft.com/office/drawing/2014/main" id="{36EBD40C-8A27-10B2-BA61-9E94053E57EA}"/>
                </a:ext>
              </a:extLst>
            </p:cNvPr>
            <p:cNvGrpSpPr/>
            <p:nvPr/>
          </p:nvGrpSpPr>
          <p:grpSpPr>
            <a:xfrm>
              <a:off x="0" y="1082578"/>
              <a:ext cx="6858000" cy="1167005"/>
              <a:chOff x="0" y="1082578"/>
              <a:chExt cx="6858000" cy="1167005"/>
            </a:xfrm>
          </p:grpSpPr>
          <p:sp>
            <p:nvSpPr>
              <p:cNvPr id="5" name="Title 1">
                <a:extLst>
                  <a:ext uri="{FF2B5EF4-FFF2-40B4-BE49-F238E27FC236}">
                    <a16:creationId xmlns:a16="http://schemas.microsoft.com/office/drawing/2014/main" id="{3D9E4F7B-BDBB-AF4A-B4AD-63280788DEC9}"/>
                  </a:ext>
                </a:extLst>
              </p:cNvPr>
              <p:cNvSpPr txBox="1">
                <a:spLocks/>
              </p:cNvSpPr>
              <p:nvPr/>
            </p:nvSpPr>
            <p:spPr>
              <a:xfrm>
                <a:off x="0" y="1082578"/>
                <a:ext cx="6765928" cy="329891"/>
              </a:xfrm>
              <a:prstGeom prst="rect">
                <a:avLst/>
              </a:prstGeom>
            </p:spPr>
            <p:txBody>
              <a:bodyPr vert="horz" lIns="20299" tIns="10150" rIns="20299" bIns="10150" rtlCol="0" anchor="ctr">
                <a:noAutofit/>
              </a:bodyPr>
              <a:lstStyle>
                <a:lvl1pPr algn="ctr" defTabSz="2880360" rtl="0" eaLnBrk="1" latinLnBrk="0" hangingPunct="1">
                  <a:lnSpc>
                    <a:spcPct val="90000"/>
                  </a:lnSpc>
                  <a:spcBef>
                    <a:spcPct val="0"/>
                  </a:spcBef>
                  <a:buNone/>
                  <a:defRPr sz="18900" kern="1200">
                    <a:solidFill>
                      <a:schemeClr val="tx1"/>
                    </a:solidFill>
                    <a:latin typeface="+mj-lt"/>
                    <a:ea typeface="+mj-ea"/>
                    <a:cs typeface="+mj-cs"/>
                  </a:defRPr>
                </a:lvl1pPr>
              </a:lstStyle>
              <a:p>
                <a:endParaRPr lang="en-US" sz="1200" b="1" dirty="0">
                  <a:solidFill>
                    <a:schemeClr val="accent2"/>
                  </a:solidFill>
                  <a:latin typeface="Arial Hebrew Scholar" pitchFamily="2" charset="-79"/>
                  <a:cs typeface="Arial Hebrew Scholar" pitchFamily="2" charset="-79"/>
                </a:endParaRPr>
              </a:p>
            </p:txBody>
          </p:sp>
          <p:sp>
            <p:nvSpPr>
              <p:cNvPr id="6" name="Rectangle 5">
                <a:extLst>
                  <a:ext uri="{FF2B5EF4-FFF2-40B4-BE49-F238E27FC236}">
                    <a16:creationId xmlns:a16="http://schemas.microsoft.com/office/drawing/2014/main" id="{FDB71301-74E9-3D33-787D-882C46CB1337}"/>
                  </a:ext>
                </a:extLst>
              </p:cNvPr>
              <p:cNvSpPr/>
              <p:nvPr/>
            </p:nvSpPr>
            <p:spPr>
              <a:xfrm>
                <a:off x="0" y="1337994"/>
                <a:ext cx="6858000" cy="14559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799" b="1" dirty="0" err="1"/>
                  <a:t>Đỗ</a:t>
                </a:r>
                <a:r>
                  <a:rPr lang="en-US" sz="799" b="1" dirty="0"/>
                  <a:t> </a:t>
                </a:r>
                <a:r>
                  <a:rPr lang="en-US" sz="799" b="1" dirty="0" err="1"/>
                  <a:t>Quốc</a:t>
                </a:r>
                <a:r>
                  <a:rPr lang="en-US" sz="799" b="1" dirty="0"/>
                  <a:t> </a:t>
                </a:r>
                <a:r>
                  <a:rPr lang="en-US" sz="799" b="1" dirty="0" err="1"/>
                  <a:t>Việt</a:t>
                </a:r>
                <a:endParaRPr lang="en-US" sz="799" b="1" dirty="0"/>
              </a:p>
            </p:txBody>
          </p:sp>
          <p:pic>
            <p:nvPicPr>
              <p:cNvPr id="63" name="Picture 62">
                <a:extLst>
                  <a:ext uri="{FF2B5EF4-FFF2-40B4-BE49-F238E27FC236}">
                    <a16:creationId xmlns:a16="http://schemas.microsoft.com/office/drawing/2014/main" id="{77C1551A-D245-378A-F0E2-59C5BABF9FCD}"/>
                  </a:ext>
                </a:extLst>
              </p:cNvPr>
              <p:cNvPicPr>
                <a:picLocks noChangeAspect="1"/>
              </p:cNvPicPr>
              <p:nvPr/>
            </p:nvPicPr>
            <p:blipFill>
              <a:blip r:embed="rId4"/>
              <a:stretch>
                <a:fillRect/>
              </a:stretch>
            </p:blipFill>
            <p:spPr>
              <a:xfrm>
                <a:off x="2620895" y="1512206"/>
                <a:ext cx="1616210" cy="737377"/>
              </a:xfrm>
              <a:prstGeom prst="rect">
                <a:avLst/>
              </a:prstGeom>
            </p:spPr>
          </p:pic>
        </p:grpSp>
      </p:grpSp>
      <p:graphicFrame>
        <p:nvGraphicFramePr>
          <p:cNvPr id="73" name="Table 72">
            <a:extLst>
              <a:ext uri="{FF2B5EF4-FFF2-40B4-BE49-F238E27FC236}">
                <a16:creationId xmlns:a16="http://schemas.microsoft.com/office/drawing/2014/main" id="{1CED74D1-B04A-EC38-34C4-DD7DDC44634A}"/>
              </a:ext>
            </a:extLst>
          </p:cNvPr>
          <p:cNvGraphicFramePr>
            <a:graphicFrameLocks noGrp="1"/>
          </p:cNvGraphicFramePr>
          <p:nvPr>
            <p:extLst>
              <p:ext uri="{D42A27DB-BD31-4B8C-83A1-F6EECF244321}">
                <p14:modId xmlns:p14="http://schemas.microsoft.com/office/powerpoint/2010/main" val="2911557029"/>
              </p:ext>
            </p:extLst>
          </p:nvPr>
        </p:nvGraphicFramePr>
        <p:xfrm>
          <a:off x="4027952" y="4670365"/>
          <a:ext cx="2789415" cy="1926010"/>
        </p:xfrm>
        <a:graphic>
          <a:graphicData uri="http://schemas.openxmlformats.org/drawingml/2006/table">
            <a:tbl>
              <a:tblPr firstRow="1" bandRow="1">
                <a:tableStyleId>{5C22544A-7EE6-4342-B048-85BDC9FD1C3A}</a:tableStyleId>
              </a:tblPr>
              <a:tblGrid>
                <a:gridCol w="2789415">
                  <a:extLst>
                    <a:ext uri="{9D8B030D-6E8A-4147-A177-3AD203B41FA5}">
                      <a16:colId xmlns:a16="http://schemas.microsoft.com/office/drawing/2014/main" val="1520847292"/>
                    </a:ext>
                  </a:extLst>
                </a:gridCol>
              </a:tblGrid>
              <a:tr h="25572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err="1">
                          <a:solidFill>
                            <a:schemeClr val="bg1"/>
                          </a:solidFill>
                          <a:latin typeface="Arial" panose="020B0604020202020204" pitchFamily="34" charset="0"/>
                          <a:cs typeface="Arial" panose="020B0604020202020204" pitchFamily="34" charset="0"/>
                        </a:rPr>
                        <a:t>Công</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nghệ</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sử</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dụng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1670284">
                <a:tc>
                  <a:txBody>
                    <a:bodyPr/>
                    <a:lstStyle/>
                    <a:p>
                      <a:pPr algn="just"/>
                      <a:endParaRPr lang="vi-VN" sz="900" dirty="0">
                        <a:latin typeface="Arial" panose="020B0604020202020204" pitchFamily="34" charset="0"/>
                        <a:cs typeface="Arial Hebrew Schol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aphicFrame>
        <p:nvGraphicFramePr>
          <p:cNvPr id="82" name="Table 81">
            <a:extLst>
              <a:ext uri="{FF2B5EF4-FFF2-40B4-BE49-F238E27FC236}">
                <a16:creationId xmlns:a16="http://schemas.microsoft.com/office/drawing/2014/main" id="{232FA873-71B4-C434-9F8C-88FB366D900C}"/>
              </a:ext>
            </a:extLst>
          </p:cNvPr>
          <p:cNvGraphicFramePr>
            <a:graphicFrameLocks noGrp="1"/>
          </p:cNvGraphicFramePr>
          <p:nvPr>
            <p:extLst>
              <p:ext uri="{D42A27DB-BD31-4B8C-83A1-F6EECF244321}">
                <p14:modId xmlns:p14="http://schemas.microsoft.com/office/powerpoint/2010/main" val="316566424"/>
              </p:ext>
            </p:extLst>
          </p:nvPr>
        </p:nvGraphicFramePr>
        <p:xfrm>
          <a:off x="71978" y="3794556"/>
          <a:ext cx="3890421" cy="6055182"/>
        </p:xfrm>
        <a:graphic>
          <a:graphicData uri="http://schemas.openxmlformats.org/drawingml/2006/table">
            <a:tbl>
              <a:tblPr firstRow="1" bandRow="1">
                <a:tableStyleId>{5C22544A-7EE6-4342-B048-85BDC9FD1C3A}</a:tableStyleId>
              </a:tblPr>
              <a:tblGrid>
                <a:gridCol w="3890421">
                  <a:extLst>
                    <a:ext uri="{9D8B030D-6E8A-4147-A177-3AD203B41FA5}">
                      <a16:colId xmlns:a16="http://schemas.microsoft.com/office/drawing/2014/main" val="1520847292"/>
                    </a:ext>
                  </a:extLst>
                </a:gridCol>
              </a:tblGrid>
              <a:tr h="122328">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a:solidFill>
                            <a:schemeClr val="bg1"/>
                          </a:solidFill>
                          <a:latin typeface="Arial" panose="020B0604020202020204" pitchFamily="34" charset="0"/>
                          <a:cs typeface="Arial" panose="020B0604020202020204" pitchFamily="34" charset="0"/>
                        </a:rPr>
                        <a:t>Giao </a:t>
                      </a:r>
                      <a:r>
                        <a:rPr lang="en-US" sz="1000" b="1" dirty="0" err="1">
                          <a:solidFill>
                            <a:schemeClr val="bg1"/>
                          </a:solidFill>
                          <a:latin typeface="Arial" panose="020B0604020202020204" pitchFamily="34" charset="0"/>
                          <a:cs typeface="Arial" panose="020B0604020202020204" pitchFamily="34" charset="0"/>
                        </a:rPr>
                        <a:t>diện</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ứng</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dụng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581134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7733821"/>
                  </a:ext>
                </a:extLst>
              </a:tr>
            </a:tbl>
          </a:graphicData>
        </a:graphic>
      </p:graphicFrame>
      <p:graphicFrame>
        <p:nvGraphicFramePr>
          <p:cNvPr id="89" name="Table 88">
            <a:extLst>
              <a:ext uri="{FF2B5EF4-FFF2-40B4-BE49-F238E27FC236}">
                <a16:creationId xmlns:a16="http://schemas.microsoft.com/office/drawing/2014/main" id="{F959286E-D53A-FB49-5826-7326306DBEDE}"/>
              </a:ext>
            </a:extLst>
          </p:cNvPr>
          <p:cNvGraphicFramePr>
            <a:graphicFrameLocks noGrp="1"/>
          </p:cNvGraphicFramePr>
          <p:nvPr>
            <p:extLst>
              <p:ext uri="{D42A27DB-BD31-4B8C-83A1-F6EECF244321}">
                <p14:modId xmlns:p14="http://schemas.microsoft.com/office/powerpoint/2010/main" val="4259971899"/>
              </p:ext>
            </p:extLst>
          </p:nvPr>
        </p:nvGraphicFramePr>
        <p:xfrm>
          <a:off x="4027951" y="6619313"/>
          <a:ext cx="2789417" cy="1426181"/>
        </p:xfrm>
        <a:graphic>
          <a:graphicData uri="http://schemas.openxmlformats.org/drawingml/2006/table">
            <a:tbl>
              <a:tblPr firstRow="1" bandRow="1">
                <a:tableStyleId>{5C22544A-7EE6-4342-B048-85BDC9FD1C3A}</a:tableStyleId>
              </a:tblPr>
              <a:tblGrid>
                <a:gridCol w="2789417">
                  <a:extLst>
                    <a:ext uri="{9D8B030D-6E8A-4147-A177-3AD203B41FA5}">
                      <a16:colId xmlns:a16="http://schemas.microsoft.com/office/drawing/2014/main" val="1520847292"/>
                    </a:ext>
                  </a:extLst>
                </a:gridCol>
              </a:tblGrid>
              <a:tr h="14651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Arial" panose="020B0604020202020204" pitchFamily="34" charset="0"/>
                          <a:cs typeface="Arial" panose="020B0604020202020204" pitchFamily="34" charset="0"/>
                        </a:rPr>
                        <a:t>Platform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2535013272"/>
                  </a:ext>
                </a:extLst>
              </a:tr>
              <a:tr h="11823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aphicFrame>
        <p:nvGraphicFramePr>
          <p:cNvPr id="90" name="Table 89">
            <a:extLst>
              <a:ext uri="{FF2B5EF4-FFF2-40B4-BE49-F238E27FC236}">
                <a16:creationId xmlns:a16="http://schemas.microsoft.com/office/drawing/2014/main" id="{0335167A-EED6-A656-BA4F-2AD2225BD2B1}"/>
              </a:ext>
            </a:extLst>
          </p:cNvPr>
          <p:cNvGraphicFramePr>
            <a:graphicFrameLocks noGrp="1"/>
          </p:cNvGraphicFramePr>
          <p:nvPr>
            <p:extLst>
              <p:ext uri="{D42A27DB-BD31-4B8C-83A1-F6EECF244321}">
                <p14:modId xmlns:p14="http://schemas.microsoft.com/office/powerpoint/2010/main" val="1708418325"/>
              </p:ext>
            </p:extLst>
          </p:nvPr>
        </p:nvGraphicFramePr>
        <p:xfrm>
          <a:off x="4027950" y="8068432"/>
          <a:ext cx="2789417" cy="1426181"/>
        </p:xfrm>
        <a:graphic>
          <a:graphicData uri="http://schemas.openxmlformats.org/drawingml/2006/table">
            <a:tbl>
              <a:tblPr firstRow="1" bandRow="1">
                <a:tableStyleId>{5C22544A-7EE6-4342-B048-85BDC9FD1C3A}</a:tableStyleId>
              </a:tblPr>
              <a:tblGrid>
                <a:gridCol w="2789417">
                  <a:extLst>
                    <a:ext uri="{9D8B030D-6E8A-4147-A177-3AD203B41FA5}">
                      <a16:colId xmlns:a16="http://schemas.microsoft.com/office/drawing/2014/main" val="1520847292"/>
                    </a:ext>
                  </a:extLst>
                </a:gridCol>
              </a:tblGrid>
              <a:tr h="14651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Arial" panose="020B0604020202020204" pitchFamily="34" charset="0"/>
                          <a:cs typeface="Arial" panose="020B0604020202020204" pitchFamily="34" charset="0"/>
                        </a:rPr>
                        <a:t>Hướng phát triển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2535013272"/>
                  </a:ext>
                </a:extLst>
              </a:tr>
              <a:tr h="1182341">
                <a:tc>
                  <a:txBody>
                    <a:bodyPr/>
                    <a:lstStyle/>
                    <a:p>
                      <a:pPr marL="171450" indent="-171450" algn="l">
                        <a:buFont typeface="Arial" panose="020B0604020202020204" pitchFamily="34" charset="0"/>
                        <a:buChar char="•"/>
                      </a:pPr>
                      <a:r>
                        <a:rPr lang="vi-VN" sz="1000" dirty="0">
                          <a:latin typeface="+mn-lt"/>
                          <a:cs typeface="Arial" panose="020B0604020202020204" pitchFamily="34" charset="0"/>
                        </a:rPr>
                        <a:t>Bổ sung nhiều loại artifact cho cùng một incident: ảnh, video, metadata, log detector.</a:t>
                      </a:r>
                    </a:p>
                    <a:p>
                      <a:pPr marL="171450" indent="-171450" algn="just">
                        <a:buFont typeface="Arial" panose="020B0604020202020204" pitchFamily="34" charset="0"/>
                        <a:buChar char="•"/>
                      </a:pPr>
                      <a:r>
                        <a:rPr lang="vi-VN" sz="1000" dirty="0">
                          <a:latin typeface="+mn-lt"/>
                          <a:cs typeface="Arial" panose="020B0604020202020204" pitchFamily="34" charset="0"/>
                        </a:rPr>
                        <a:t>Mã hóa hoặc làm mờ khuôn mặt để bảo vệ quyền riêng tư học sinh.</a:t>
                      </a:r>
                      <a:endParaRPr lang="en-US"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sp>
        <p:nvSpPr>
          <p:cNvPr id="92" name="TextBox 91">
            <a:extLst>
              <a:ext uri="{FF2B5EF4-FFF2-40B4-BE49-F238E27FC236}">
                <a16:creationId xmlns:a16="http://schemas.microsoft.com/office/drawing/2014/main" id="{A0C06921-7CE0-2846-54DF-FEF2E2972390}"/>
              </a:ext>
            </a:extLst>
          </p:cNvPr>
          <p:cNvSpPr txBox="1"/>
          <p:nvPr/>
        </p:nvSpPr>
        <p:spPr>
          <a:xfrm>
            <a:off x="3943438" y="9586860"/>
            <a:ext cx="2958439" cy="215444"/>
          </a:xfrm>
          <a:prstGeom prst="rect">
            <a:avLst/>
          </a:prstGeom>
          <a:noFill/>
        </p:spPr>
        <p:txBody>
          <a:bodyPr wrap="square">
            <a:spAutoFit/>
          </a:bodyPr>
          <a:lstStyle/>
          <a:p>
            <a:pPr algn="ctr"/>
            <a:r>
              <a:rPr lang="en-US" sz="750" dirty="0">
                <a:latin typeface="Arial" panose="020B0604020202020204" pitchFamily="34" charset="0"/>
                <a:cs typeface="Arial Hebrew Scholar"/>
              </a:rPr>
              <a:t>©</a:t>
            </a:r>
            <a:r>
              <a:rPr lang="en-US" sz="750" dirty="0" err="1">
                <a:latin typeface="Arial" panose="020B0604020202020204" pitchFamily="34" charset="0"/>
                <a:cs typeface="Arial Hebrew Scholar"/>
              </a:rPr>
              <a:t>AIoTLab</a:t>
            </a:r>
            <a:r>
              <a:rPr lang="en-US" sz="750" dirty="0">
                <a:latin typeface="Arial" panose="020B0604020202020204" pitchFamily="34" charset="0"/>
                <a:cs typeface="Arial Hebrew Scholar"/>
              </a:rPr>
              <a:t>, Faculty of Information Technology, </a:t>
            </a:r>
            <a:r>
              <a:rPr lang="en-US" sz="750" dirty="0" err="1">
                <a:latin typeface="Arial" panose="020B0604020202020204" pitchFamily="34" charset="0"/>
                <a:cs typeface="Arial Hebrew Scholar"/>
              </a:rPr>
              <a:t>DaiNam</a:t>
            </a:r>
            <a:r>
              <a:rPr lang="en-US" sz="750" dirty="0">
                <a:latin typeface="Arial" panose="020B0604020202020204" pitchFamily="34" charset="0"/>
                <a:cs typeface="Arial Hebrew Scholar"/>
              </a:rPr>
              <a:t> University</a:t>
            </a:r>
          </a:p>
        </p:txBody>
      </p:sp>
      <p:grpSp>
        <p:nvGrpSpPr>
          <p:cNvPr id="1024" name="Group 1023">
            <a:extLst>
              <a:ext uri="{FF2B5EF4-FFF2-40B4-BE49-F238E27FC236}">
                <a16:creationId xmlns:a16="http://schemas.microsoft.com/office/drawing/2014/main" id="{744A033B-ADB1-65DC-6E8B-77A248771067}"/>
              </a:ext>
            </a:extLst>
          </p:cNvPr>
          <p:cNvGrpSpPr/>
          <p:nvPr/>
        </p:nvGrpSpPr>
        <p:grpSpPr>
          <a:xfrm>
            <a:off x="4407239" y="7276093"/>
            <a:ext cx="683266" cy="362763"/>
            <a:chOff x="6071533" y="2197843"/>
            <a:chExt cx="683266" cy="367061"/>
          </a:xfrm>
        </p:grpSpPr>
        <p:sp>
          <p:nvSpPr>
            <p:cNvPr id="1025" name="TextBox 1024">
              <a:extLst>
                <a:ext uri="{FF2B5EF4-FFF2-40B4-BE49-F238E27FC236}">
                  <a16:creationId xmlns:a16="http://schemas.microsoft.com/office/drawing/2014/main" id="{F232106F-BB02-AEDC-69E9-2BDE01BDE00D}"/>
                </a:ext>
              </a:extLst>
            </p:cNvPr>
            <p:cNvSpPr txBox="1"/>
            <p:nvPr/>
          </p:nvSpPr>
          <p:spPr>
            <a:xfrm>
              <a:off x="6105590" y="2222338"/>
              <a:ext cx="649209" cy="342566"/>
            </a:xfrm>
            <a:prstGeom prst="rect">
              <a:avLst/>
            </a:prstGeom>
            <a:noFill/>
          </p:spPr>
          <p:txBody>
            <a:bodyPr wrap="square">
              <a:spAutoFit/>
            </a:bodyPr>
            <a:lstStyle/>
            <a:p>
              <a:pPr algn="ctr"/>
              <a:r>
                <a:rPr lang="en-US" sz="800" b="1">
                  <a:latin typeface="Arial Hebrew Scholar" pitchFamily="2" charset="-79"/>
                  <a:cs typeface="Arial Hebrew Scholar" pitchFamily="2" charset="-79"/>
                </a:rPr>
                <a:t>Github Platform</a:t>
              </a:r>
              <a:endParaRPr lang="en-US" sz="800" b="1" dirty="0">
                <a:latin typeface="Arial Hebrew Scholar" pitchFamily="2" charset="-79"/>
                <a:cs typeface="Arial Hebrew Scholar" pitchFamily="2" charset="-79"/>
              </a:endParaRPr>
            </a:p>
          </p:txBody>
        </p:sp>
        <p:pic>
          <p:nvPicPr>
            <p:cNvPr id="1026" name="Picture 4" descr="Github Logo - Free social media icons">
              <a:extLst>
                <a:ext uri="{FF2B5EF4-FFF2-40B4-BE49-F238E27FC236}">
                  <a16:creationId xmlns:a16="http://schemas.microsoft.com/office/drawing/2014/main" id="{58468723-8BEE-E9A8-37F1-25D443A7862F}"/>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AutoShape 2">
            <a:extLst>
              <a:ext uri="{FF2B5EF4-FFF2-40B4-BE49-F238E27FC236}">
                <a16:creationId xmlns:a16="http://schemas.microsoft.com/office/drawing/2014/main" id="{E1FC8692-59B2-5A83-A506-78017CA63F03}"/>
              </a:ext>
            </a:extLst>
          </p:cNvPr>
          <p:cNvSpPr>
            <a:spLocks noChangeAspect="1" noChangeArrowheads="1"/>
          </p:cNvSpPr>
          <p:nvPr/>
        </p:nvSpPr>
        <p:spPr bwMode="auto">
          <a:xfrm>
            <a:off x="3276600" y="4800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4" name="Picture 3">
            <a:extLst>
              <a:ext uri="{FF2B5EF4-FFF2-40B4-BE49-F238E27FC236}">
                <a16:creationId xmlns:a16="http://schemas.microsoft.com/office/drawing/2014/main" id="{BC05C2A2-675F-471F-F2ED-E4E1C5AA115B}"/>
              </a:ext>
            </a:extLst>
          </p:cNvPr>
          <p:cNvPicPr>
            <a:picLocks noChangeAspect="1"/>
          </p:cNvPicPr>
          <p:nvPr/>
        </p:nvPicPr>
        <p:blipFill>
          <a:blip r:embed="rId5">
            <a:extLst>
              <a:ext uri="{28A0092B-C50C-407E-A947-70E740481C1C}">
                <a14:useLocalDpi xmlns:a14="http://schemas.microsoft.com/office/drawing/2010/main" val="0"/>
              </a:ext>
            </a:extLst>
          </a:blip>
          <a:srcRect b="25883"/>
          <a:stretch>
            <a:fillRect/>
          </a:stretch>
        </p:blipFill>
        <p:spPr>
          <a:xfrm>
            <a:off x="194060" y="4079557"/>
            <a:ext cx="3654653" cy="2423320"/>
          </a:xfrm>
          <a:prstGeom prst="rect">
            <a:avLst/>
          </a:prstGeom>
        </p:spPr>
      </p:pic>
      <p:pic>
        <p:nvPicPr>
          <p:cNvPr id="10" name="Picture 9">
            <a:extLst>
              <a:ext uri="{FF2B5EF4-FFF2-40B4-BE49-F238E27FC236}">
                <a16:creationId xmlns:a16="http://schemas.microsoft.com/office/drawing/2014/main" id="{1821C6F1-EBD7-161A-DE71-720F7AA131C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9355" y="6551252"/>
            <a:ext cx="3647945" cy="3250110"/>
          </a:xfrm>
          <a:prstGeom prst="rect">
            <a:avLst/>
          </a:prstGeom>
        </p:spPr>
      </p:pic>
      <p:pic>
        <p:nvPicPr>
          <p:cNvPr id="15" name="Picture 14">
            <a:extLst>
              <a:ext uri="{FF2B5EF4-FFF2-40B4-BE49-F238E27FC236}">
                <a16:creationId xmlns:a16="http://schemas.microsoft.com/office/drawing/2014/main" id="{77B3C8B4-8139-58A4-DFC6-5F7E191E1F3C}"/>
              </a:ext>
            </a:extLst>
          </p:cNvPr>
          <p:cNvPicPr>
            <a:picLocks noChangeAspect="1"/>
          </p:cNvPicPr>
          <p:nvPr/>
        </p:nvPicPr>
        <p:blipFill>
          <a:blip r:embed="rId7"/>
          <a:stretch>
            <a:fillRect/>
          </a:stretch>
        </p:blipFill>
        <p:spPr>
          <a:xfrm>
            <a:off x="4069514" y="4984338"/>
            <a:ext cx="2716508" cy="1474757"/>
          </a:xfrm>
          <a:prstGeom prst="rect">
            <a:avLst/>
          </a:prstGeom>
        </p:spPr>
      </p:pic>
      <p:sp>
        <p:nvSpPr>
          <p:cNvPr id="16" name="AutoShape 4" descr="AI-driven video verification pipeline diagram">
            <a:extLst>
              <a:ext uri="{FF2B5EF4-FFF2-40B4-BE49-F238E27FC236}">
                <a16:creationId xmlns:a16="http://schemas.microsoft.com/office/drawing/2014/main" id="{A621E0DD-2060-C838-2B0D-B236DFAA8DC8}"/>
              </a:ext>
            </a:extLst>
          </p:cNvPr>
          <p:cNvSpPr>
            <a:spLocks noChangeAspect="1" noChangeArrowheads="1"/>
          </p:cNvSpPr>
          <p:nvPr/>
        </p:nvSpPr>
        <p:spPr bwMode="auto">
          <a:xfrm>
            <a:off x="3429000" y="4953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8" name="Picture 17">
            <a:extLst>
              <a:ext uri="{FF2B5EF4-FFF2-40B4-BE49-F238E27FC236}">
                <a16:creationId xmlns:a16="http://schemas.microsoft.com/office/drawing/2014/main" id="{541966EA-533B-FBD6-F2B4-ABD43C45F9E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55996" y="2693299"/>
            <a:ext cx="2731151" cy="1820768"/>
          </a:xfrm>
          <a:prstGeom prst="rect">
            <a:avLst/>
          </a:prstGeom>
        </p:spPr>
      </p:pic>
      <p:pic>
        <p:nvPicPr>
          <p:cNvPr id="20" name="Picture 19">
            <a:extLst>
              <a:ext uri="{FF2B5EF4-FFF2-40B4-BE49-F238E27FC236}">
                <a16:creationId xmlns:a16="http://schemas.microsoft.com/office/drawing/2014/main" id="{CAC441F5-220D-9FB7-985F-29246DB04CBA}"/>
              </a:ext>
            </a:extLst>
          </p:cNvPr>
          <p:cNvPicPr>
            <a:picLocks noChangeAspect="1"/>
          </p:cNvPicPr>
          <p:nvPr/>
        </p:nvPicPr>
        <p:blipFill>
          <a:blip r:embed="rId9"/>
          <a:stretch>
            <a:fillRect/>
          </a:stretch>
        </p:blipFill>
        <p:spPr>
          <a:xfrm>
            <a:off x="5496119" y="6910083"/>
            <a:ext cx="1027242" cy="1029495"/>
          </a:xfrm>
          <a:prstGeom prst="rect">
            <a:avLst/>
          </a:prstGeom>
        </p:spPr>
      </p:pic>
      <p:pic>
        <p:nvPicPr>
          <p:cNvPr id="22" name="Picture 21">
            <a:extLst>
              <a:ext uri="{FF2B5EF4-FFF2-40B4-BE49-F238E27FC236}">
                <a16:creationId xmlns:a16="http://schemas.microsoft.com/office/drawing/2014/main" id="{9E7EFAFA-1243-3984-2CC6-137A189C3CD9}"/>
              </a:ext>
            </a:extLst>
          </p:cNvPr>
          <p:cNvPicPr>
            <a:picLocks noChangeAspect="1"/>
          </p:cNvPicPr>
          <p:nvPr/>
        </p:nvPicPr>
        <p:blipFill>
          <a:blip r:embed="rId9"/>
          <a:stretch>
            <a:fillRect/>
          </a:stretch>
        </p:blipFill>
        <p:spPr>
          <a:xfrm>
            <a:off x="5793473" y="1169323"/>
            <a:ext cx="765577" cy="767256"/>
          </a:xfrm>
          <a:prstGeom prst="rect">
            <a:avLst/>
          </a:prstGeom>
        </p:spPr>
      </p:pic>
    </p:spTree>
    <p:extLst>
      <p:ext uri="{BB962C8B-B14F-4D97-AF65-F5344CB8AC3E}">
        <p14:creationId xmlns:p14="http://schemas.microsoft.com/office/powerpoint/2010/main" val="13358698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776</TotalTime>
  <Words>198</Words>
  <Application>Microsoft Office PowerPoint</Application>
  <PresentationFormat>A4 Paper (210x297 mm)</PresentationFormat>
  <Paragraphs>31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Arial Hebrew Scholar</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Thái Khánh Nguyễn</dc:creator>
  <cp:lastModifiedBy>1671020078 Nguyễn Đức Đại</cp:lastModifiedBy>
  <cp:revision>111</cp:revision>
  <dcterms:created xsi:type="dcterms:W3CDTF">2023-07-02T07:57:15Z</dcterms:created>
  <dcterms:modified xsi:type="dcterms:W3CDTF">2026-06-04T05:52:04Z</dcterms:modified>
</cp:coreProperties>
</file>